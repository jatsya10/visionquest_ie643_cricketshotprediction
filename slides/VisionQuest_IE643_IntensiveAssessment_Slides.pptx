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0D2A1D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3657600" cy="3657600"/>
          </a:xfrm>
          <a:prstGeom prst="ellipse">
            <a:avLst/>
          </a:prstGeom>
          <a:solidFill>
            <a:srgbClr val="0D2A1D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709160"/>
            <a:ext cx="822960" cy="822960"/>
          </a:xfrm>
          <a:prstGeom prst="ellipse">
            <a:avLst/>
          </a:prstGeom>
          <a:solidFill>
            <a:srgbClr val="B323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 643 COURSE PROJECT — INTENSIVE ASSESSMENT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Prediction of Batting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Shot-Type from Cricket Videos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batter's shot before completion, from early video frames and body-pose cues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434840"/>
            <a:ext cx="5669280" cy="1463040"/>
          </a:xfrm>
          <a:prstGeom prst="rect">
            <a:avLst/>
          </a:prstGeom>
          <a:solidFill>
            <a:srgbClr val="0D2A1D"/>
          </a:solidFill>
          <a:ln w="9525">
            <a:solidFill>
              <a:srgbClr val="E8DC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55371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Team: Vision Quest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4956048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 — Roll No.]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2 — Roll No.]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D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as part of IE 643 Deep Learning – Theory and Practice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49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463040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144475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417320" y="1792224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predict and why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49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27648" y="1463040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86600" y="144475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086600" y="1792224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→ completion roadmap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304288"/>
            <a:ext cx="5349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395728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237744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Prep Review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17320" y="272491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&amp; design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2304288"/>
            <a:ext cx="5349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2395728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86600" y="237744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Prep Review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086600" y="2724912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experiments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236976"/>
            <a:ext cx="5349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328416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17320" y="331012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417320" y="3657600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&amp; pose branches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3236976"/>
            <a:ext cx="5349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3328416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86600" y="331012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086600" y="3657600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IPL-2023, frames, pose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169664"/>
            <a:ext cx="5349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261104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417320" y="424281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417320" y="4590288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hardware, metrics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4169664"/>
            <a:ext cx="5349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4261104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086600" y="424281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086600" y="4590288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&amp; qualitative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102352"/>
            <a:ext cx="5349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" y="5193792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417320" y="517550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1417320" y="5522976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significance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5102352"/>
            <a:ext cx="5349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27648" y="5193792"/>
            <a:ext cx="731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D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086600" y="517550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Plan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086600" y="5522976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Beyond-scope extension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Quest  |  IE 643 Course Project — Intensive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batter's upcoming cricket shot BEFORE the shot is fully completed.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94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5394960" cy="640080"/>
          </a:xfrm>
          <a:prstGeom prst="rect">
            <a:avLst/>
          </a:prstGeom>
          <a:solidFill>
            <a:srgbClr val="143D2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659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A — Video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7432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/ Top-5 shot prediction from only the first 50% or 75% of a clip.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39776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clip → spatiotemporal CNN → ranked shot types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965960"/>
            <a:ext cx="5394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965960"/>
            <a:ext cx="5394960" cy="640080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9659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B — Pose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7432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Player-specific likely / unlikely shot scoring from the batter's body-pose keypoints.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39776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sequence → ST-GCN → per-class likely/unlikely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how early — in observed frames or pose steps — can a reliable prediction be made, and does it vary by player?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Quest  |  IE 643 Course Project — Intensive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1481328" cy="914400"/>
          </a:xfrm>
          <a:prstGeom prst="rect">
            <a:avLst/>
          </a:prstGeom>
          <a:solidFill>
            <a:srgbClr val="143D2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194560"/>
            <a:ext cx="1389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39112" y="2560320"/>
            <a:ext cx="118872" cy="182880"/>
          </a:xfrm>
          <a:prstGeom prst="rightArrow">
            <a:avLst/>
          </a:prstGeom>
          <a:solidFill>
            <a:srgbClr val="E8DCC0"/>
          </a:solidFill>
          <a:ln/>
        </p:spPr>
      </p:sp>
      <p:sp>
        <p:nvSpPr>
          <p:cNvPr id="9" name="Shape 7"/>
          <p:cNvSpPr/>
          <p:nvPr/>
        </p:nvSpPr>
        <p:spPr>
          <a:xfrm>
            <a:off x="2167128" y="2194560"/>
            <a:ext cx="1481328" cy="914400"/>
          </a:xfrm>
          <a:prstGeom prst="rect">
            <a:avLst/>
          </a:prstGeom>
          <a:solidFill>
            <a:srgbClr val="143D2B"/>
          </a:solidFill>
          <a:ln/>
        </p:spPr>
      </p:sp>
      <p:sp>
        <p:nvSpPr>
          <p:cNvPr id="10" name="Text 8"/>
          <p:cNvSpPr/>
          <p:nvPr/>
        </p:nvSpPr>
        <p:spPr>
          <a:xfrm>
            <a:off x="2212848" y="2194560"/>
            <a:ext cx="1389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0" y="2560320"/>
            <a:ext cx="118872" cy="182880"/>
          </a:xfrm>
          <a:prstGeom prst="rightArrow">
            <a:avLst/>
          </a:prstGeom>
          <a:solidFill>
            <a:srgbClr val="E8DCC0"/>
          </a:solidFill>
          <a:ln/>
        </p:spPr>
      </p:sp>
      <p:sp>
        <p:nvSpPr>
          <p:cNvPr id="12" name="Shape 10"/>
          <p:cNvSpPr/>
          <p:nvPr/>
        </p:nvSpPr>
        <p:spPr>
          <a:xfrm>
            <a:off x="3785616" y="2194560"/>
            <a:ext cx="1481328" cy="914400"/>
          </a:xfrm>
          <a:prstGeom prst="rect">
            <a:avLst/>
          </a:prstGeom>
          <a:solidFill>
            <a:srgbClr val="143D2B"/>
          </a:solidFill>
          <a:ln/>
        </p:spPr>
      </p:sp>
      <p:sp>
        <p:nvSpPr>
          <p:cNvPr id="13" name="Text 11"/>
          <p:cNvSpPr/>
          <p:nvPr/>
        </p:nvSpPr>
        <p:spPr>
          <a:xfrm>
            <a:off x="3831336" y="2194560"/>
            <a:ext cx="1389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+ Pose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76088" y="2560320"/>
            <a:ext cx="118872" cy="182880"/>
          </a:xfrm>
          <a:prstGeom prst="rightArrow">
            <a:avLst/>
          </a:prstGeom>
          <a:solidFill>
            <a:srgbClr val="E8DCC0"/>
          </a:solidFill>
          <a:ln/>
        </p:spPr>
      </p:sp>
      <p:sp>
        <p:nvSpPr>
          <p:cNvPr id="15" name="Shape 13"/>
          <p:cNvSpPr/>
          <p:nvPr/>
        </p:nvSpPr>
        <p:spPr>
          <a:xfrm>
            <a:off x="5404104" y="2194560"/>
            <a:ext cx="1481328" cy="914400"/>
          </a:xfrm>
          <a:prstGeom prst="rect">
            <a:avLst/>
          </a:prstGeom>
          <a:solidFill>
            <a:srgbClr val="143D2B"/>
          </a:solidFill>
          <a:ln/>
        </p:spPr>
      </p:sp>
      <p:sp>
        <p:nvSpPr>
          <p:cNvPr id="16" name="Text 14"/>
          <p:cNvSpPr/>
          <p:nvPr/>
        </p:nvSpPr>
        <p:spPr>
          <a:xfrm>
            <a:off x="5449824" y="2194560"/>
            <a:ext cx="1389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94576" y="2560320"/>
            <a:ext cx="118872" cy="182880"/>
          </a:xfrm>
          <a:prstGeom prst="rightArrow">
            <a:avLst/>
          </a:prstGeom>
          <a:solidFill>
            <a:srgbClr val="E8DCC0"/>
          </a:solidFill>
          <a:ln/>
        </p:spPr>
      </p:sp>
      <p:sp>
        <p:nvSpPr>
          <p:cNvPr id="18" name="Shape 16"/>
          <p:cNvSpPr/>
          <p:nvPr/>
        </p:nvSpPr>
        <p:spPr>
          <a:xfrm>
            <a:off x="7022592" y="2194560"/>
            <a:ext cx="1481328" cy="914400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9" name="Text 17"/>
          <p:cNvSpPr/>
          <p:nvPr/>
        </p:nvSpPr>
        <p:spPr>
          <a:xfrm>
            <a:off x="7068312" y="2194560"/>
            <a:ext cx="1389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Early-Pred.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513064" y="2560320"/>
            <a:ext cx="118872" cy="182880"/>
          </a:xfrm>
          <a:prstGeom prst="rightArrow">
            <a:avLst/>
          </a:prstGeom>
          <a:solidFill>
            <a:srgbClr val="E8DCC0"/>
          </a:solidFill>
          <a:ln/>
        </p:spPr>
      </p:sp>
      <p:sp>
        <p:nvSpPr>
          <p:cNvPr id="21" name="Shape 19"/>
          <p:cNvSpPr/>
          <p:nvPr/>
        </p:nvSpPr>
        <p:spPr>
          <a:xfrm>
            <a:off x="8641080" y="2194560"/>
            <a:ext cx="1481328" cy="914400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0" y="2194560"/>
            <a:ext cx="1389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Analysis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131552" y="2560320"/>
            <a:ext cx="118872" cy="182880"/>
          </a:xfrm>
          <a:prstGeom prst="rightArrow">
            <a:avLst/>
          </a:prstGeom>
          <a:solidFill>
            <a:srgbClr val="E8DCC0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59568" y="2194560"/>
            <a:ext cx="1481328" cy="914400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25" name="Text 23"/>
          <p:cNvSpPr/>
          <p:nvPr/>
        </p:nvSpPr>
        <p:spPr>
          <a:xfrm>
            <a:off x="10305288" y="2194560"/>
            <a:ext cx="13898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= completed before/around prep review · Red = completed after prep review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986784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877056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Progressed from a literature-grounded problem framing to a working two-branch system and a live demo.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626864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517136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fed the next: the dataset's 7-class taxonomy fixed the model heads; frame/pose caching enabled fast training; partial-observation masking enabled the temporal analysis.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285232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175504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built last so reviewers can test the trained models on new clips in real time.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Before Prep-Presentation Review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Quest  |  IE 643 Course Project — Intensive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0817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 early action prediction / anticipation (observation-ratio protocol; earliness-aware losses) to frame the task correctly.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6654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spatiotemporal backbones (3D-CNN / SlowFast) and skeleton graph networks (ST-GCN), and cricket-specific prior work (CricShotClassify; Rajarajeswari et al. 2026 on this exact dataset, 95.6% full-clip).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249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the Cricket Shots – IPL 2023 dataset and its 7-class taxonomy for direct comparability.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649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two-branch architecture (video Top-k; pose likely/unlikely) and the subtask breakdown.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050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the evaluation protocol: Top-k, per-class F1, MRR, and an earliness score.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After Prep-Presentation Review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Quest  |  IE 643 Course Project — Intensive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0817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the full pipeline: Kaggle download, 20-frame uniform sampling, MediaPipe pose extraction, stratified split.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6654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video branch (R3D-18, Kinetics-pretrained) with prefix-masked partial-observation training and an earliness-aware loss.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249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compact ST-GCN pose branch with an optional player embedding (global fallback when player clips are scarce).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832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the temporal early-prediction analysis across 25/50/75/100% observation.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133088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233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the Gradio test interface (upload clip → Top-k + pose likely/unlikely + pose overlay + confidence curve).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(1/3)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 — System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Quest  |  IE 643 Course Project — Intensive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783080" cy="1188720"/>
          </a:xfrm>
          <a:prstGeom prst="rect">
            <a:avLst/>
          </a:prstGeom>
          <a:solidFill>
            <a:srgbClr val="143D2B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2103120"/>
            <a:ext cx="16733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Clip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59152" y="2569464"/>
            <a:ext cx="310896" cy="256032"/>
          </a:xfrm>
          <a:prstGeom prst="rightArrow">
            <a:avLst/>
          </a:prstGeom>
          <a:solidFill>
            <a:srgbClr val="E8DCC0"/>
          </a:solidFill>
          <a:ln/>
        </p:spPr>
      </p:sp>
      <p:sp>
        <p:nvSpPr>
          <p:cNvPr id="9" name="Shape 7"/>
          <p:cNvSpPr/>
          <p:nvPr/>
        </p:nvSpPr>
        <p:spPr>
          <a:xfrm>
            <a:off x="2697480" y="2103120"/>
            <a:ext cx="1783080" cy="1188720"/>
          </a:xfrm>
          <a:prstGeom prst="rect">
            <a:avLst/>
          </a:prstGeom>
          <a:solidFill>
            <a:srgbClr val="143D2B"/>
          </a:solidFill>
          <a:ln/>
        </p:spPr>
      </p:sp>
      <p:sp>
        <p:nvSpPr>
          <p:cNvPr id="10" name="Text 8"/>
          <p:cNvSpPr/>
          <p:nvPr/>
        </p:nvSpPr>
        <p:spPr>
          <a:xfrm>
            <a:off x="2752344" y="2103120"/>
            <a:ext cx="16733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Sample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Pose Extract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07992" y="2569464"/>
            <a:ext cx="310896" cy="256032"/>
          </a:xfrm>
          <a:prstGeom prst="rightArrow">
            <a:avLst/>
          </a:prstGeom>
          <a:solidFill>
            <a:srgbClr val="E8DCC0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2103120"/>
            <a:ext cx="1783080" cy="548640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3" name="Text 11"/>
          <p:cNvSpPr/>
          <p:nvPr/>
        </p:nvSpPr>
        <p:spPr>
          <a:xfrm>
            <a:off x="4901184" y="2103120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Branch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(R3D-18)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743200"/>
            <a:ext cx="1783080" cy="548640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5" name="Text 13"/>
          <p:cNvSpPr/>
          <p:nvPr/>
        </p:nvSpPr>
        <p:spPr>
          <a:xfrm>
            <a:off x="4901184" y="2743200"/>
            <a:ext cx="1673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Branch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(ST-GCN)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56832" y="2569464"/>
            <a:ext cx="310896" cy="256032"/>
          </a:xfrm>
          <a:prstGeom prst="rightArrow">
            <a:avLst/>
          </a:prstGeom>
          <a:solidFill>
            <a:srgbClr val="E8DCC0"/>
          </a:solidFill>
          <a:ln/>
        </p:spPr>
      </p:sp>
      <p:sp>
        <p:nvSpPr>
          <p:cNvPr id="17" name="Shape 15"/>
          <p:cNvSpPr/>
          <p:nvPr/>
        </p:nvSpPr>
        <p:spPr>
          <a:xfrm>
            <a:off x="6995160" y="2103120"/>
            <a:ext cx="1783080" cy="1188720"/>
          </a:xfrm>
          <a:prstGeom prst="rect">
            <a:avLst/>
          </a:prstGeom>
          <a:solidFill>
            <a:srgbClr val="143D2B"/>
          </a:solidFill>
          <a:ln/>
        </p:spPr>
      </p:sp>
      <p:sp>
        <p:nvSpPr>
          <p:cNvPr id="18" name="Text 16"/>
          <p:cNvSpPr/>
          <p:nvPr/>
        </p:nvSpPr>
        <p:spPr>
          <a:xfrm>
            <a:off x="7050024" y="2103120"/>
            <a:ext cx="16733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shot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likely/unlikely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803904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69417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consume the SAME partial-observation clip (first 50% / 75%), enabling a like-for-like early-prediction comparison.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462272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35254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branch answers Setting A (ranked Top-k); pose branch answers Setting B (per-class likely/unlikely, player-specific).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(2/3)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 — Video Branch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Quest  |  IE 643 Course Project — Intensive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0817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 R3D-18 (ResNet-18 3D) pretrained on Kinetics-400; final layer replaced by a 7-class head. Chosen for strong spatiotemporal features trainable on a single T4.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6654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observation: the first k = ⌈g·T⌉ frames are kept; the future is masked by repeating frame k, so the 3D-CNN input length stays fixed while no future information leaks.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249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Earliness-aware loss: L = CE(full) + λ·CE(forced-early), explicitly rewarding correct predictions from few frames (after Aliakbarian et al., 2017).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832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backbone implemented: ResNet-18 + GRU (CricShotClassify-style) for comparison.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 =  CE( f(x), y )  +  λ · CE( f(x_early), y 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(3/3)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 — Pose Branch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Quest  |  IE 643 Course Project — Intensive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0817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Keypoints: MediaPipe BlazePose, 33 landmarks/frame, normalised (centred on mid-hip, scaled by torso length) for translation/scale invariance.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6654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compact ST-GCN — the skeleton is a spatio-temporal graph over joints; a learnable edge-importance mask weights connections; temporal convolutions capture backlift/trigger dynamics.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249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Player-specific head: a player embedding is concatenated before the classifier, learned only for batters with ≥15 clips; otherwise the model falls back to a global pose model.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93008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832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softmax → Top-k ranking; sigmoid &gt; threshold → likely/unlikely decision per shot.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Data Preprocessing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Quest  |  IE 643 Course Project — Intensive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2377440" cy="713232"/>
          </a:xfrm>
          <a:prstGeom prst="rect">
            <a:avLst/>
          </a:prstGeom>
          <a:solidFill>
            <a:srgbClr val="143D2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6304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3240" y="150876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Shots – IPL 2023 (Kaggle, Apache-2.0). Broadcast clips, one batting shot each. [FILL total clip count]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11064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267712"/>
            <a:ext cx="2377440" cy="713232"/>
          </a:xfrm>
          <a:prstGeom prst="rect">
            <a:avLst/>
          </a:prstGeom>
          <a:solidFill>
            <a:srgbClr val="143D2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67712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 (7)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3240" y="2313432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drive, pull, cut, sweep, flick, slog, misc — native taxonomy kept for comparability [CONFIRM names after inspect]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072384"/>
            <a:ext cx="11064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072384"/>
            <a:ext cx="2377440" cy="713232"/>
          </a:xfrm>
          <a:prstGeom prst="rect">
            <a:avLst/>
          </a:prstGeom>
          <a:solidFill>
            <a:srgbClr val="143D2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72384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3240" y="3118104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70 / 15 / 15 train / val / test (every class in every split)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11064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877056"/>
            <a:ext cx="2377440" cy="713232"/>
          </a:xfrm>
          <a:prstGeom prst="rect">
            <a:avLst/>
          </a:prstGeom>
          <a:solidFill>
            <a:srgbClr val="143D2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877056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63240" y="3922776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frames uniformly sampled per clip, resized 112×112, Kinetics-normalised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681728"/>
            <a:ext cx="11064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681728"/>
            <a:ext cx="2377440" cy="713232"/>
          </a:xfrm>
          <a:prstGeom prst="rect">
            <a:avLst/>
          </a:prstGeom>
          <a:solidFill>
            <a:srgbClr val="143D2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681728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063240" y="472744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BlazePose 33-keypoint sequence, normalised; validity mask per frame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486400"/>
            <a:ext cx="11064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486400"/>
            <a:ext cx="2377440" cy="713232"/>
          </a:xfrm>
          <a:prstGeom prst="rect">
            <a:avLst/>
          </a:prstGeom>
          <a:solidFill>
            <a:srgbClr val="143D2B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48640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clips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63240" y="553212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50 / 75 / 100% derived by prefix masking from each full clip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 &amp; Details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Quest  |  IE 643 Course Project — Intensive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0817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[FILL — e.g. Google Colab, NVIDIA T4 16 GB]. Mixed-precision training.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57984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482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Optimiser: AdamW; lr 3e-4 (video) / 9e-4 (pose); weight decay 1e-4; cosine schedule + 2-epoch warmup; gradient clip 1.0.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0662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 batch 8; random observation ratio ∈ {0.5,0.75,1.0} per sample so one model serves all horizons; label smoothing 0.05.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6499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30 epochs, early stopping (patience 7) on val Top-1.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0507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Top-1/3/5 accuracy, per-class F1, MRR (pose ranking), earliness score (smallest ratio within 3% of full-clip Top-1).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634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[FILL GitHub link]. Reproducible via scripts/run_all.sh; config-driven.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(1/4)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Accuracy vs. Observation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Quest  |  IE 643 Course Project — Intensive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5943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results/figures/accuracy_vs_ratio.png after training]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589520" y="1975104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0" y="186537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Top-1 rises from [__]% at 25% to [__]% at full clip.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89520" y="2633472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252374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50% observation the model already retains [__]% of full-clip accuracy.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589520" y="3291840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3182112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/ Top-5 are substantially higher — useful for the ranked-prediction use case.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89520" y="4187952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0" y="407822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Earliness score: reliable predictions by [__]% of the clip.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(2/4)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Quantitative Table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Quest  |  IE 643 Course Project — Intensive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0" y="2011680"/>
            <a:ext cx="2377440" cy="457200"/>
          </a:xfrm>
          <a:prstGeom prst="rect">
            <a:avLst/>
          </a:prstGeom>
          <a:solidFill>
            <a:srgbClr val="143D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Obs. ratio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23360" y="2011680"/>
            <a:ext cx="1280160" cy="457200"/>
          </a:xfrm>
          <a:prstGeom prst="rect">
            <a:avLst/>
          </a:prstGeom>
          <a:solidFill>
            <a:srgbClr val="143D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0" y="2011680"/>
            <a:ext cx="1280160" cy="457200"/>
          </a:xfrm>
          <a:prstGeom prst="rect">
            <a:avLst/>
          </a:prstGeom>
          <a:solidFill>
            <a:srgbClr val="143D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2011680"/>
            <a:ext cx="1280160" cy="457200"/>
          </a:xfrm>
          <a:prstGeom prst="rect">
            <a:avLst/>
          </a:prstGeom>
          <a:solidFill>
            <a:srgbClr val="143D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2011680"/>
            <a:ext cx="1280160" cy="457200"/>
          </a:xfrm>
          <a:prstGeom prst="rect">
            <a:avLst/>
          </a:prstGeom>
          <a:solidFill>
            <a:srgbClr val="143D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011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45920" y="2468880"/>
            <a:ext cx="2377440" cy="457200"/>
          </a:xfrm>
          <a:prstGeom prst="rect">
            <a:avLst/>
          </a:prstGeom>
          <a:solidFill>
            <a:srgbClr val="E8DCC0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Top-1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023360" y="24688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0" y="2468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03520" y="24688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2468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24688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468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63840" y="24688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2468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645920" y="2926080"/>
            <a:ext cx="2377440" cy="457200"/>
          </a:xfrm>
          <a:prstGeom prst="rect">
            <a:avLst/>
          </a:prstGeom>
          <a:solidFill>
            <a:srgbClr val="E8DCC0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Top-3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023360" y="29260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2926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303520" y="29260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2926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583680" y="29260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926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863840" y="29260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63840" y="29260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645920" y="3383280"/>
            <a:ext cx="2377440" cy="457200"/>
          </a:xfrm>
          <a:prstGeom prst="rect">
            <a:avLst/>
          </a:prstGeom>
          <a:solidFill>
            <a:srgbClr val="E8DCC0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45920" y="3383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Top-5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023360" y="33832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33832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303520" y="33832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33832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583680" y="33832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33832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863840" y="33832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63840" y="33832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645920" y="3840480"/>
            <a:ext cx="2377440" cy="457200"/>
          </a:xfrm>
          <a:prstGeom prst="rect">
            <a:avLst/>
          </a:prstGeom>
          <a:solidFill>
            <a:srgbClr val="E8DCC0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45920" y="3840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Top-1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023360" y="38404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2336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303520" y="38404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0352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583680" y="38404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7863840" y="38404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63840" y="38404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1645920" y="4297680"/>
            <a:ext cx="2377440" cy="457200"/>
          </a:xfrm>
          <a:prstGeom prst="rect">
            <a:avLst/>
          </a:prstGeom>
          <a:solidFill>
            <a:srgbClr val="E8DCC0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645920" y="4297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Top-3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4023360" y="42976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23360" y="4297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5303520" y="42976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03520" y="4297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583680" y="42976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83680" y="4297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7863840" y="429768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863840" y="4297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1645920" y="5212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from results/temporal_results.json. Reference ceiling: Rajarajeswari et al. (2026) 95.6% full-clip on this dataset.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(3/4)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Per-class &amp; Confusion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Quest  |  IE 643 Course Project — Intensive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212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[confusion_video_full.png]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828800"/>
            <a:ext cx="5212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[perclass_f1.png]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Inferences: [which shots confuse early — e.g. drive vs. flick; which class has lowest F1 and why].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(4/4)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Qualitative (Demo)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Quest  |  IE 643 Course Project — Intensive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212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[Pose overlay screenshot]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1828800"/>
            <a:ext cx="5212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CC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[Confidence-vs-time curve]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shows the batter pose overlay and how prediction confidence sharpens as more of the clip is revealed — demoed live in the viva.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Quest  |  IE 643 Course Project — Intensive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0817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two-branch system predicts cricket shots before completion: video Top-k (Setting A) and player-specific pose likely/unlikely (Setting B).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6654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visual cues carry real signal — [__]% Top-1 at just 50% observation, vs. [__]% at full clip.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0662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temporal analysis pinpoints how early a reliable call can be made (earliness ≈ [__]%).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56432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4670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alone is a lighter, complementary signal; the player-specific head [helped / did not help — fill].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8678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subtasks completed; a live, reviewer-driveable interface demonstrates the trained models.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for Novelty Assessment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Quest  |  IE 643 Course Project — Intensive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0817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extension: [pick ONE] — (a) bowling-type (pace/spin) conditioning; (b) late fusion of video+pose with earliness gain; (c) uncertainty-aware early-exit that stops as soon as confidence crosses a threshold and reports how early per shot.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14016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0428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compare earliness score and Top-1 against the current two-branch baseline on the same test split.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6265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novel: prior cricket work classifies completed clips only; none reports per-shot earliest-reliable-decision with an adaptive early-exit.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30752"/>
            <a:ext cx="109728" cy="109728"/>
          </a:xfrm>
          <a:prstGeom prst="rect">
            <a:avLst/>
          </a:prstGeom>
          <a:solidFill>
            <a:srgbClr val="B3231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21024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build + evaluate before the 23/25 Nov novelty slots.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Quest  |  IE 643 Course Project — Intensive Assessment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430000" y="65471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Kong and Yun Fu. Human Action Recognition and Prediction: A Survey. arXiv, 2018. https://arxiv.org/abs/1806.11230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S. Aliakbarian, F. Saleh, M. Salzmann, B. Fernando, L. Petersson and L. Andersson. Encouraging LSTMs to Anticipate Actions Very Early. ICCV, 2017. https://arxiv.org/abs/1703.07023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Feichtenhofer, H. Fan, J. Malik and K. He. SlowFast Networks for Video Recognition. ICCV, 2019. https://arxiv.org/abs/1812.03982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Yan, Y. Xiong and D. Lin. Spatial Temporal Graph Convolutional Networks for Skeleton-Based Action Recognition. AAAI, 2018. https://arxiv.org/abs/1801.07455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Rajarajeswari, D. Prashant, J. Srinivasan and T. Dubey. Deep Learning Based Cricket Batting Shot Classification and Performance Analysis Using Computer Vision. Scientific Reports, 2026. https://www.nature.com/articles/s41598-026-52617-1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Sen, K. Deb, P. K. Dhar and T. Koshiba. CricShotClassify: Classifying Batting Shots from Cricket Videos Using a CNN and GRU. Sensors, 2021. https://www.ncbi.nlm.nih.gov/pmc/articles/PMC8072636/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Bazarevsky and I. Grishchenko. On-Device, Real-Time Body Pose Tracking with MediaPipe BlazePose. Google Research Blog, 2020. https://research.google/blog/on-device-real-time-body-pose-tracking-with-mediapipe-blazepose/. Accessed: 25 Oct 2026.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52120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Taarun Sridhar. Cricket Shots – IPL 2023 [dataset]. https://www.kaggle.com/datasets/taarunsridhar/cricket-shots-ipl-2023. Accessed: 25 Oct 2026.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Quest. Project code repository. https://github.com/&lt;YOUR_USERNAME&gt;/VisionQuest_IE643_CricketShotPrediction. Accessed: 25 Oct 2026.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2026-10-25T07:50:33Z</dcterms:created>
  <dcterms:modified xsi:type="dcterms:W3CDTF">2026-10-25T07:50:33Z</dcterms:modified>
</cp:coreProperties>
</file>